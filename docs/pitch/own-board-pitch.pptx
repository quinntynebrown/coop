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f6e6e750-bd45-f50c-1241-9fe655e71877}">
          <p14:sldIdLst>
            <p14:sldId id="256"/>
            <p14:sldId id="257"/>
          </p14:sldIdLst>
        </p14:section>
        <p14:section name="Six things that matter" id="{d2c15f81-2926-80d7-2212-92792325f3c0}">
          <p14:sldIdLst>
            <p14:sldId id="258"/>
            <p14:sldId id="259"/>
            <p14:sldId id="260"/>
            <p14:sldId id="261"/>
            <p14:sldId id="262"/>
            <p14:sldId id="263"/>
            <p14:sldId id="264"/>
            <p14:sldId id="265"/>
            <p14:sldId id="266"/>
            <p14:sldId id="267"/>
          </p14:sldIdLst>
        </p14:section>
        <p14:section name="Today and next" id="{371896b8-e354-47d3-f500-5b7a1afb9312}">
          <p14:sldIdLst>
            <p14:sldId id="268"/>
          </p14:sldIdLst>
        </p14:section>
        <p14:section name="Our ask" id="{c1d6f784-1050-7b97-3d90-4bba7f5db99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 you for having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us love the internet. Some of us would rather keep things simple, and that is perfectly fine. This platform is for everyone. It is a website, and it is also a helping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show you six things. Each one is something you told us matters. For each one, we will say plainly whether it works today, or whether it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website that is beautiful and easy to read. This is the design we drew for OWN. It is warm. It has big words, big buttons, and pictures of home. It is not live yet, but this is the look we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OWN runs it. Nobody else. Someone in your office signs in to a simple admin desk. Every purple tag on this screen marks a part of the website that the office can change by themselves. The words, the photos,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office can already change the colours, and keep a library of photos. Coming next is adding and removing whole pages, and editing lists, like your board of directors. So when you hold your yearly election, the new directors can appear on the website the same afternoon. No programmer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office can already change the colours, and keep a library of photos. Coming next is adding and removing whole pages, and editing lists, like your board of directors. So when you hold your yearly election, the new directors can appear on the website the same afternoon. No programmer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notices that nobody misses. The office writes a notice once. It shows on the front page of the website, and in the documents page for members. This works today. Sending a notice straight to your phone or email is a later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a leaking tap should be easy to report. A member taps new request, types a few words, and sends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sees it at once, and taps receive, so the member knows someone is on it. The member can follow the request from new, to received, to done. Reporting, receiving and following a request works today. Buttons for started and finished, and photos,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bigger words. Any member can make the text bigger, all the way to four hundred percent, and still use the whole site. Everything stacks into one easy column, and nothing falls off the edge. We design for this on every screen, and we will test it before anyone has to rely on it. This part is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Sixth, your own face. Members can add their own profile picture, so neighbours see who is writing. The screen is drawn, and a place to keep the pictures is ready. Joining them together is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short. Working today are notices, maintenance requests, your colours, and a library of photos. Coming next are the new website design, pages and lists the office can edit, bigger text, and profile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three small things. First, let two members try notices and maintenance requests. Second, tell us the first three pages you want on your website. Third, choose who in your office will be your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would be glad to answer any question, however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4206240" cy="365760"/>
          </a:xfrm>
          <a:prstGeom prst="rect">
            <a:avLst/>
          </a:prstGeom>
          <a:noFill/>
          <a:ln/>
        </p:spPr>
        <p:txBody>
          <a:bodyPr wrap="square" lIns="0" tIns="0" rIns="0" bIns="0" rtlCol="0" anchor="ctr"/>
          <a:lstStyle/>
          <a:p>
            <a:pPr indent="0" marL="0">
              <a:buNone/>
            </a:pPr>
            <a:r>
              <a:rPr lang="en-US" sz="1600" b="1" spc="200" kern="0" dirty="0">
                <a:solidFill>
                  <a:schemeClr val="accent1"/>
                </a:solidFill>
              </a:rPr>
              <a:t>BOARD MEETING · CO-OP PLATFORM</a:t>
            </a:r>
            <a:endParaRPr lang="en-US" sz="1600" dirty="0"/>
          </a:p>
        </p:txBody>
      </p:sp>
      <p:sp>
        <p:nvSpPr>
          <p:cNvPr id="4" name="Text 1"/>
          <p:cNvSpPr txBox="1"/>
          <p:nvPr/>
        </p:nvSpPr>
        <p:spPr>
          <a:xfrm>
            <a:off x="548640" y="1508760"/>
            <a:ext cx="4206240" cy="1645920"/>
          </a:xfrm>
          <a:prstGeom prst="rect">
            <a:avLst/>
          </a:prstGeom>
          <a:noFill/>
          <a:ln/>
        </p:spPr>
        <p:txBody>
          <a:bodyPr wrap="square" lIns="0" tIns="0" rIns="0" bIns="0" rtlCol="0" anchor="t"/>
          <a:lstStyle/>
          <a:p>
            <a:pPr indent="0" marL="0">
              <a:buNone/>
            </a:pPr>
            <a:r>
              <a:rPr lang="en-US" sz="3800" b="1" dirty="0">
                <a:solidFill>
                  <a:schemeClr val="tx1"/>
                </a:solidFill>
              </a:rPr>
              <a:t>A website and a helping hand for OWN</a:t>
            </a:r>
            <a:endParaRPr lang="en-US" sz="3800" dirty="0"/>
          </a:p>
        </p:txBody>
      </p:sp>
      <p:sp>
        <p:nvSpPr>
          <p:cNvPr id="5" name="Text 2"/>
          <p:cNvSpPr txBox="1"/>
          <p:nvPr/>
        </p:nvSpPr>
        <p:spPr>
          <a:xfrm>
            <a:off x="548640" y="3291840"/>
            <a:ext cx="4206240" cy="548640"/>
          </a:xfrm>
          <a:prstGeom prst="rect">
            <a:avLst/>
          </a:prstGeom>
          <a:noFill/>
          <a:ln/>
        </p:spPr>
        <p:txBody>
          <a:bodyPr wrap="square" lIns="0" tIns="0" rIns="0" bIns="0" rtlCol="0" anchor="ctr"/>
          <a:lstStyle/>
          <a:p>
            <a:pPr indent="0" marL="0">
              <a:buNone/>
            </a:pPr>
            <a:r>
              <a:rPr lang="en-US" sz="2200" dirty="0">
                <a:solidFill>
                  <a:schemeClr val="tx2"/>
                </a:solidFill>
              </a:rPr>
              <a:t>Six things that matter to you</a:t>
            </a:r>
            <a:endParaRPr lang="en-US" sz="2200" dirty="0"/>
          </a:p>
        </p:txBody>
      </p:sp>
      <p:pic>
        <p:nvPicPr>
          <p:cNvPr id="6" name="Image 0" descr="A friendly apartment building with a garden and neighbours on a bench">    </p:cNvPr>
          <p:cNvPicPr>
            <a:picLocks noChangeAspect="1"/>
          </p:cNvPicPr>
          <p:nvPr/>
        </p:nvPicPr>
        <p:blipFill>
          <a:blip r:embed="rId1"/>
          <a:stretch>
            <a:fillRect/>
          </a:stretch>
        </p:blipFill>
        <p:spPr>
          <a:xfrm>
            <a:off x="5029200" y="1097280"/>
            <a:ext cx="36576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A website. And a helping hand</a:t>
            </a:r>
            <a:endParaRPr lang="en-US" sz="3200" dirty="0"/>
          </a:p>
        </p:txBody>
      </p:sp>
      <p:pic>
        <p:nvPicPr>
          <p:cNvPr id="4" name="Image 0" descr="Neighbours having tea together">    </p:cNvPr>
          <p:cNvPicPr>
            <a:picLocks noChangeAspect="1"/>
          </p:cNvPicPr>
          <p:nvPr/>
        </p:nvPicPr>
        <p:blipFill>
          <a:blip r:embed="rId1"/>
          <a:stretch>
            <a:fillRect/>
          </a:stretch>
        </p:blipFill>
        <p:spPr>
          <a:xfrm>
            <a:off x="914400" y="1188720"/>
            <a:ext cx="3291840" cy="2468880"/>
          </a:xfrm>
          <a:prstGeom prst="rect">
            <a:avLst/>
          </a:prstGeom>
        </p:spPr>
      </p:pic>
      <p:pic>
        <p:nvPicPr>
          <p:cNvPr id="5" name="Image 1" descr="A choir singing together">    </p:cNvPr>
          <p:cNvPicPr>
            <a:picLocks noChangeAspect="1"/>
          </p:cNvPicPr>
          <p:nvPr/>
        </p:nvPicPr>
        <p:blipFill>
          <a:blip r:embed="rId2"/>
          <a:stretch>
            <a:fillRect/>
          </a:stretch>
        </p:blipFill>
        <p:spPr>
          <a:xfrm>
            <a:off x="5212080" y="1188720"/>
            <a:ext cx="1975104" cy="2468880"/>
          </a:xfrm>
          <a:prstGeom prst="rect">
            <a:avLst/>
          </a:prstGeom>
        </p:spPr>
      </p:pic>
      <p:sp>
        <p:nvSpPr>
          <p:cNvPr id="6" name="Text 1"/>
          <p:cNvSpPr txBox="1"/>
          <p:nvPr/>
        </p:nvSpPr>
        <p:spPr>
          <a:xfrm>
            <a:off x="640080" y="3749040"/>
            <a:ext cx="3840480" cy="365760"/>
          </a:xfrm>
          <a:prstGeom prst="rect">
            <a:avLst/>
          </a:prstGeom>
          <a:noFill/>
          <a:ln/>
        </p:spPr>
        <p:txBody>
          <a:bodyPr wrap="square" lIns="0" tIns="0" rIns="0" bIns="0" rtlCol="0" anchor="ctr"/>
          <a:lstStyle/>
          <a:p>
            <a:pPr algn="ctr" indent="0" marL="0">
              <a:buNone/>
            </a:pPr>
            <a:r>
              <a:rPr lang="en-US" sz="1800" dirty="0">
                <a:solidFill>
                  <a:schemeClr val="tx2"/>
                </a:solidFill>
              </a:rPr>
              <a:t>Some of us love the internet.</a:t>
            </a:r>
            <a:endParaRPr lang="en-US" sz="1800" dirty="0"/>
          </a:p>
        </p:txBody>
      </p:sp>
      <p:sp>
        <p:nvSpPr>
          <p:cNvPr id="7" name="Text 2"/>
          <p:cNvSpPr txBox="1"/>
          <p:nvPr/>
        </p:nvSpPr>
        <p:spPr>
          <a:xfrm>
            <a:off x="4572000" y="3749040"/>
            <a:ext cx="3291840" cy="640080"/>
          </a:xfrm>
          <a:prstGeom prst="rect">
            <a:avLst/>
          </a:prstGeom>
          <a:noFill/>
          <a:ln/>
        </p:spPr>
        <p:txBody>
          <a:bodyPr wrap="square" lIns="0" tIns="0" rIns="0" bIns="0" rtlCol="0" anchor="ctr"/>
          <a:lstStyle/>
          <a:p>
            <a:pPr algn="ctr" indent="0" marL="0">
              <a:buNone/>
            </a:pPr>
            <a:r>
              <a:rPr lang="en-US" sz="1800" dirty="0">
                <a:solidFill>
                  <a:schemeClr val="tx2"/>
                </a:solidFill>
              </a:rPr>
              <a:t>Some of us like it simple. That is fine.</a:t>
            </a:r>
            <a:endParaRPr lang="en-US" sz="1800" dirty="0"/>
          </a:p>
        </p:txBody>
      </p:sp>
      <p:sp>
        <p:nvSpPr>
          <p:cNvPr id="8" name="Text 3"/>
          <p:cNvSpPr txBox="1"/>
          <p:nvPr/>
        </p:nvSpPr>
        <p:spPr>
          <a:xfrm>
            <a:off x="457200" y="4389120"/>
            <a:ext cx="8229600" cy="457200"/>
          </a:xfrm>
          <a:prstGeom prst="rect">
            <a:avLst/>
          </a:prstGeom>
          <a:noFill/>
          <a:ln/>
        </p:spPr>
        <p:txBody>
          <a:bodyPr wrap="square" lIns="0" tIns="0" rIns="0" bIns="0" rtlCol="0" anchor="ctr"/>
          <a:lstStyle/>
          <a:p>
            <a:pPr algn="ctr" indent="0" marL="0">
              <a:buNone/>
            </a:pPr>
            <a:r>
              <a:rPr lang="en-US" sz="2400" b="1" dirty="0">
                <a:solidFill>
                  <a:schemeClr val="tx1"/>
                </a:solidFill>
              </a:rPr>
              <a:t>This is for everyone.</a:t>
            </a:r>
            <a:endParaRPr lang="en-US" sz="2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Six things that matter</a:t>
            </a:r>
            <a:endParaRPr lang="en-US" sz="3200" dirty="0"/>
          </a:p>
        </p:txBody>
      </p:sp>
      <p:sp>
        <p:nvSpPr>
          <p:cNvPr id="4" name="Card: A beautiful, easy website"/>
          <p:cNvSpPr/>
          <p:nvPr/>
        </p:nvSpPr>
        <p:spPr>
          <a:xfrm>
            <a:off x="457200" y="1234440"/>
            <a:ext cx="2606040" cy="1143000"/>
          </a:xfrm>
          <a:prstGeom prst="roundRect">
            <a:avLst>
              <a:gd name="adj" fmla="val 9600"/>
            </a:avLst>
          </a:prstGeom>
          <a:solidFill>
            <a:schemeClr val="bg1"/>
          </a:solidFill>
          <a:ln w="25400">
            <a:solidFill>
              <a:schemeClr val="accent5"/>
            </a:solidFill>
            <a:prstDash val="solid"/>
          </a:ln>
        </p:spPr>
      </p:sp>
      <p:pic>
        <p:nvPicPr>
          <p:cNvPr id="5" name="Image 0" descr="A beautiful, easy website icon">    </p:cNvPr>
          <p:cNvPicPr>
            <a:picLocks noChangeAspect="1"/>
          </p:cNvPicPr>
          <p:nvPr/>
        </p:nvPicPr>
        <p:blipFill>
          <a:blip r:embed="rId1"/>
          <a:stretch>
            <a:fillRect/>
          </a:stretch>
        </p:blipFill>
        <p:spPr>
          <a:xfrm>
            <a:off x="594360" y="1490472"/>
            <a:ext cx="640080" cy="640080"/>
          </a:xfrm>
          <a:prstGeom prst="rect">
            <a:avLst/>
          </a:prstGeom>
        </p:spPr>
      </p:pic>
      <p:sp>
        <p:nvSpPr>
          <p:cNvPr id="6" name="Text 2"/>
          <p:cNvSpPr txBox="1"/>
          <p:nvPr/>
        </p:nvSpPr>
        <p:spPr>
          <a:xfrm>
            <a:off x="1371600" y="132588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A beautiful, easy website</a:t>
            </a:r>
            <a:endParaRPr lang="en-US" sz="1800" dirty="0"/>
          </a:p>
        </p:txBody>
      </p:sp>
      <p:sp>
        <p:nvSpPr>
          <p:cNvPr id="7" name="Card: OWN runs it"/>
          <p:cNvSpPr/>
          <p:nvPr/>
        </p:nvSpPr>
        <p:spPr>
          <a:xfrm>
            <a:off x="3246120" y="1234440"/>
            <a:ext cx="2606040" cy="1143000"/>
          </a:xfrm>
          <a:prstGeom prst="roundRect">
            <a:avLst>
              <a:gd name="adj" fmla="val 9600"/>
            </a:avLst>
          </a:prstGeom>
          <a:solidFill>
            <a:schemeClr val="bg1"/>
          </a:solidFill>
          <a:ln w="25400">
            <a:solidFill>
              <a:schemeClr val="accent5"/>
            </a:solidFill>
            <a:prstDash val="solid"/>
          </a:ln>
        </p:spPr>
      </p:sp>
      <p:pic>
        <p:nvPicPr>
          <p:cNvPr id="8" name="Image 1" descr="OWN runs it icon">    </p:cNvPr>
          <p:cNvPicPr>
            <a:picLocks noChangeAspect="1"/>
          </p:cNvPicPr>
          <p:nvPr/>
        </p:nvPicPr>
        <p:blipFill>
          <a:blip r:embed="rId2"/>
          <a:stretch>
            <a:fillRect/>
          </a:stretch>
        </p:blipFill>
        <p:spPr>
          <a:xfrm>
            <a:off x="3383280" y="1490472"/>
            <a:ext cx="640080" cy="640080"/>
          </a:xfrm>
          <a:prstGeom prst="rect">
            <a:avLst/>
          </a:prstGeom>
        </p:spPr>
      </p:pic>
      <p:sp>
        <p:nvSpPr>
          <p:cNvPr id="9" name="Text 4"/>
          <p:cNvSpPr txBox="1"/>
          <p:nvPr/>
        </p:nvSpPr>
        <p:spPr>
          <a:xfrm>
            <a:off x="4160520" y="132588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OWN runs it</a:t>
            </a:r>
            <a:endParaRPr lang="en-US" sz="1800" dirty="0"/>
          </a:p>
        </p:txBody>
      </p:sp>
      <p:sp>
        <p:nvSpPr>
          <p:cNvPr id="10" name="Card: Notices nobody misses"/>
          <p:cNvSpPr/>
          <p:nvPr/>
        </p:nvSpPr>
        <p:spPr>
          <a:xfrm>
            <a:off x="6035040" y="1234440"/>
            <a:ext cx="2606040" cy="1143000"/>
          </a:xfrm>
          <a:prstGeom prst="roundRect">
            <a:avLst>
              <a:gd name="adj" fmla="val 9600"/>
            </a:avLst>
          </a:prstGeom>
          <a:solidFill>
            <a:schemeClr val="bg1"/>
          </a:solidFill>
          <a:ln w="25400">
            <a:solidFill>
              <a:schemeClr val="accent5"/>
            </a:solidFill>
            <a:prstDash val="solid"/>
          </a:ln>
        </p:spPr>
      </p:sp>
      <p:pic>
        <p:nvPicPr>
          <p:cNvPr id="11" name="Image 2" descr="Notices nobody misses icon">    </p:cNvPr>
          <p:cNvPicPr>
            <a:picLocks noChangeAspect="1"/>
          </p:cNvPicPr>
          <p:nvPr/>
        </p:nvPicPr>
        <p:blipFill>
          <a:blip r:embed="rId3"/>
          <a:stretch>
            <a:fillRect/>
          </a:stretch>
        </p:blipFill>
        <p:spPr>
          <a:xfrm>
            <a:off x="6172200" y="1490472"/>
            <a:ext cx="640080" cy="640080"/>
          </a:xfrm>
          <a:prstGeom prst="rect">
            <a:avLst/>
          </a:prstGeom>
        </p:spPr>
      </p:pic>
      <p:sp>
        <p:nvSpPr>
          <p:cNvPr id="12" name="Text 6"/>
          <p:cNvSpPr txBox="1"/>
          <p:nvPr/>
        </p:nvSpPr>
        <p:spPr>
          <a:xfrm>
            <a:off x="6949440" y="132588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Notices nobody misses</a:t>
            </a:r>
            <a:endParaRPr lang="en-US" sz="1800" dirty="0"/>
          </a:p>
        </p:txBody>
      </p:sp>
      <p:sp>
        <p:nvSpPr>
          <p:cNvPr id="13" name="Card: Easy repair requests"/>
          <p:cNvSpPr/>
          <p:nvPr/>
        </p:nvSpPr>
        <p:spPr>
          <a:xfrm>
            <a:off x="457200" y="2560320"/>
            <a:ext cx="2606040" cy="1143000"/>
          </a:xfrm>
          <a:prstGeom prst="roundRect">
            <a:avLst>
              <a:gd name="adj" fmla="val 9600"/>
            </a:avLst>
          </a:prstGeom>
          <a:solidFill>
            <a:schemeClr val="bg1"/>
          </a:solidFill>
          <a:ln w="25400">
            <a:solidFill>
              <a:schemeClr val="accent5"/>
            </a:solidFill>
            <a:prstDash val="solid"/>
          </a:ln>
        </p:spPr>
      </p:sp>
      <p:pic>
        <p:nvPicPr>
          <p:cNvPr id="14" name="Image 3" descr="Easy repair requests icon">    </p:cNvPr>
          <p:cNvPicPr>
            <a:picLocks noChangeAspect="1"/>
          </p:cNvPicPr>
          <p:nvPr/>
        </p:nvPicPr>
        <p:blipFill>
          <a:blip r:embed="rId4"/>
          <a:stretch>
            <a:fillRect/>
          </a:stretch>
        </p:blipFill>
        <p:spPr>
          <a:xfrm>
            <a:off x="594360" y="2816352"/>
            <a:ext cx="640080" cy="640080"/>
          </a:xfrm>
          <a:prstGeom prst="rect">
            <a:avLst/>
          </a:prstGeom>
        </p:spPr>
      </p:pic>
      <p:sp>
        <p:nvSpPr>
          <p:cNvPr id="15" name="Text 8"/>
          <p:cNvSpPr txBox="1"/>
          <p:nvPr/>
        </p:nvSpPr>
        <p:spPr>
          <a:xfrm>
            <a:off x="1371600" y="265176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Easy repair requests</a:t>
            </a:r>
            <a:endParaRPr lang="en-US" sz="1800" dirty="0"/>
          </a:p>
        </p:txBody>
      </p:sp>
      <p:sp>
        <p:nvSpPr>
          <p:cNvPr id="16" name="Card: Bigger words"/>
          <p:cNvSpPr/>
          <p:nvPr/>
        </p:nvSpPr>
        <p:spPr>
          <a:xfrm>
            <a:off x="3246120" y="2560320"/>
            <a:ext cx="2606040" cy="1143000"/>
          </a:xfrm>
          <a:prstGeom prst="roundRect">
            <a:avLst>
              <a:gd name="adj" fmla="val 9600"/>
            </a:avLst>
          </a:prstGeom>
          <a:solidFill>
            <a:schemeClr val="bg1"/>
          </a:solidFill>
          <a:ln w="25400">
            <a:solidFill>
              <a:schemeClr val="accent5"/>
            </a:solidFill>
            <a:prstDash val="solid"/>
          </a:ln>
        </p:spPr>
      </p:sp>
      <p:sp>
        <p:nvSpPr>
          <p:cNvPr id="17" name="Text 10"/>
          <p:cNvSpPr txBox="1"/>
          <p:nvPr/>
        </p:nvSpPr>
        <p:spPr>
          <a:xfrm>
            <a:off x="3383280" y="2788920"/>
            <a:ext cx="731520" cy="685800"/>
          </a:xfrm>
          <a:prstGeom prst="rect">
            <a:avLst/>
          </a:prstGeom>
          <a:noFill/>
          <a:ln/>
        </p:spPr>
        <p:txBody>
          <a:bodyPr wrap="square" lIns="0" tIns="0" rIns="0" bIns="0" rtlCol="0" anchor="ctr"/>
          <a:lstStyle/>
          <a:p>
            <a:pPr algn="ctr" indent="0" marL="0">
              <a:buNone/>
            </a:pPr>
            <a:r>
              <a:rPr lang="en-US" sz="3000" b="1" dirty="0">
                <a:solidFill>
                  <a:schemeClr val="accent1"/>
                </a:solidFill>
              </a:rPr>
              <a:t>Aa</a:t>
            </a:r>
            <a:endParaRPr lang="en-US" sz="3000" dirty="0"/>
          </a:p>
        </p:txBody>
      </p:sp>
      <p:sp>
        <p:nvSpPr>
          <p:cNvPr id="18" name="Text 11"/>
          <p:cNvSpPr txBox="1"/>
          <p:nvPr/>
        </p:nvSpPr>
        <p:spPr>
          <a:xfrm>
            <a:off x="4160520" y="265176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Bigger words</a:t>
            </a:r>
            <a:endParaRPr lang="en-US" sz="1800" dirty="0"/>
          </a:p>
        </p:txBody>
      </p:sp>
      <p:sp>
        <p:nvSpPr>
          <p:cNvPr id="19" name="Card: Your own photo"/>
          <p:cNvSpPr/>
          <p:nvPr/>
        </p:nvSpPr>
        <p:spPr>
          <a:xfrm>
            <a:off x="6035040" y="2560320"/>
            <a:ext cx="2606040" cy="1143000"/>
          </a:xfrm>
          <a:prstGeom prst="roundRect">
            <a:avLst>
              <a:gd name="adj" fmla="val 9600"/>
            </a:avLst>
          </a:prstGeom>
          <a:solidFill>
            <a:schemeClr val="bg1"/>
          </a:solidFill>
          <a:ln w="25400">
            <a:solidFill>
              <a:schemeClr val="accent5"/>
            </a:solidFill>
            <a:prstDash val="solid"/>
          </a:ln>
        </p:spPr>
      </p:sp>
      <p:pic>
        <p:nvPicPr>
          <p:cNvPr id="20" name="Image 4" descr="Your own photo icon">    </p:cNvPr>
          <p:cNvPicPr>
            <a:picLocks noChangeAspect="1"/>
          </p:cNvPicPr>
          <p:nvPr/>
        </p:nvPicPr>
        <p:blipFill>
          <a:blip r:embed="rId5"/>
          <a:stretch>
            <a:fillRect/>
          </a:stretch>
        </p:blipFill>
        <p:spPr>
          <a:xfrm>
            <a:off x="6172200" y="2816352"/>
            <a:ext cx="640080" cy="640080"/>
          </a:xfrm>
          <a:prstGeom prst="rect">
            <a:avLst/>
          </a:prstGeom>
        </p:spPr>
      </p:pic>
      <p:sp>
        <p:nvSpPr>
          <p:cNvPr id="21" name="Text 13"/>
          <p:cNvSpPr txBox="1"/>
          <p:nvPr/>
        </p:nvSpPr>
        <p:spPr>
          <a:xfrm>
            <a:off x="6949440" y="2651760"/>
            <a:ext cx="1600200" cy="960120"/>
          </a:xfrm>
          <a:prstGeom prst="rect">
            <a:avLst/>
          </a:prstGeom>
          <a:noFill/>
          <a:ln/>
        </p:spPr>
        <p:txBody>
          <a:bodyPr wrap="square" lIns="0" tIns="0" rIns="0" bIns="0" rtlCol="0" anchor="ctr"/>
          <a:lstStyle/>
          <a:p>
            <a:pPr indent="0" marL="0">
              <a:buNone/>
            </a:pPr>
            <a:r>
              <a:rPr lang="en-US" sz="1800" b="1" dirty="0">
                <a:solidFill>
                  <a:schemeClr val="tx1"/>
                </a:solidFill>
              </a:rPr>
              <a:t>Your own photo</a:t>
            </a:r>
            <a:endParaRPr lang="en-US" sz="1800" dirty="0"/>
          </a:p>
        </p:txBody>
      </p:sp>
      <p:sp>
        <p:nvSpPr>
          <p:cNvPr id="22" name="Status: Working today"/>
          <p:cNvSpPr txBox="1"/>
          <p:nvPr/>
        </p:nvSpPr>
        <p:spPr>
          <a:xfrm>
            <a:off x="2103120" y="4114800"/>
            <a:ext cx="23774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Working today</a:t>
            </a:r>
            <a:endParaRPr lang="en-US" sz="1600" dirty="0"/>
          </a:p>
        </p:txBody>
      </p:sp>
      <p:sp>
        <p:nvSpPr>
          <p:cNvPr id="23" name="Status: Coming next"/>
          <p:cNvSpPr txBox="1"/>
          <p:nvPr/>
        </p:nvSpPr>
        <p:spPr>
          <a:xfrm>
            <a:off x="4663440" y="4114800"/>
            <a:ext cx="23774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1 · Beautiful and easy to read</a:t>
            </a:r>
            <a:endParaRPr lang="en-US" sz="3200" dirty="0"/>
          </a:p>
        </p:txBody>
      </p:sp>
      <p:sp>
        <p:nvSpPr>
          <p:cNvPr id="4" name="Status: Coming next · design drawn"/>
          <p:cNvSpPr txBox="1"/>
          <p:nvPr/>
        </p:nvSpPr>
        <p:spPr>
          <a:xfrm>
            <a:off x="457200" y="1097280"/>
            <a:ext cx="32918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 · design drawn</a:t>
            </a:r>
            <a:endParaRPr lang="en-US" sz="1600" dirty="0"/>
          </a:p>
        </p:txBody>
      </p:sp>
      <p:pic>
        <p:nvPicPr>
          <p:cNvPr id="5" name="The proposed OWN home page on a computer" descr="The proposed OWN home page on a computer">    </p:cNvPr>
          <p:cNvPicPr>
            <a:picLocks noChangeAspect="1"/>
          </p:cNvPicPr>
          <p:nvPr/>
        </p:nvPicPr>
        <p:blipFill>
          <a:blip r:embed="rId1"/>
          <a:stretch>
            <a:fillRect/>
          </a:stretch>
        </p:blipFill>
        <p:spPr>
          <a:xfrm>
            <a:off x="1485900" y="1600200"/>
            <a:ext cx="4389120" cy="2743200"/>
          </a:xfrm>
          <a:prstGeom prst="rect">
            <a:avLst/>
          </a:prstGeom>
        </p:spPr>
      </p:pic>
      <p:sp>
        <p:nvSpPr>
          <p:cNvPr id="6" name="Text 2"/>
          <p:cNvSpPr txBox="1"/>
          <p:nvPr/>
        </p:nvSpPr>
        <p:spPr>
          <a:xfrm>
            <a:off x="1485900" y="4389120"/>
            <a:ext cx="4389120" cy="320040"/>
          </a:xfrm>
          <a:prstGeom prst="rect">
            <a:avLst/>
          </a:prstGeom>
          <a:noFill/>
          <a:ln/>
        </p:spPr>
        <p:txBody>
          <a:bodyPr wrap="square" lIns="0" tIns="0" rIns="0" bIns="0" rtlCol="0" anchor="ctr"/>
          <a:lstStyle/>
          <a:p>
            <a:pPr algn="ctr" indent="0" marL="0">
              <a:buNone/>
            </a:pPr>
            <a:r>
              <a:rPr lang="en-US" sz="1600" dirty="0">
                <a:solidFill>
                  <a:schemeClr val="tx2"/>
                </a:solidFill>
              </a:rPr>
              <a:t>On a computer</a:t>
            </a:r>
            <a:endParaRPr lang="en-US" sz="1600" dirty="0"/>
          </a:p>
        </p:txBody>
      </p:sp>
      <p:pic>
        <p:nvPicPr>
          <p:cNvPr id="7" name="The proposed OWN home page on a phone" descr="The proposed OWN home page on a phone">    </p:cNvPr>
          <p:cNvPicPr>
            <a:picLocks noChangeAspect="1"/>
          </p:cNvPicPr>
          <p:nvPr/>
        </p:nvPicPr>
        <p:blipFill>
          <a:blip r:embed="rId2"/>
          <a:stretch>
            <a:fillRect/>
          </a:stretch>
        </p:blipFill>
        <p:spPr>
          <a:xfrm>
            <a:off x="6423660" y="1600200"/>
            <a:ext cx="1234440" cy="2743200"/>
          </a:xfrm>
          <a:prstGeom prst="rect">
            <a:avLst/>
          </a:prstGeom>
        </p:spPr>
      </p:pic>
      <p:sp>
        <p:nvSpPr>
          <p:cNvPr id="8" name="Text 3"/>
          <p:cNvSpPr txBox="1"/>
          <p:nvPr/>
        </p:nvSpPr>
        <p:spPr>
          <a:xfrm>
            <a:off x="596646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On a phone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2 · OWN runs it</a:t>
            </a:r>
            <a:endParaRPr lang="en-US" sz="3200" dirty="0"/>
          </a:p>
        </p:txBody>
      </p:sp>
      <p:pic>
        <p:nvPicPr>
          <p:cNvPr id="4" name="The home page with purple tags marking the parts the office can change" descr="The home page with purple tags marking the parts the office can change">    </p:cNvPr>
          <p:cNvPicPr>
            <a:picLocks noChangeAspect="1"/>
          </p:cNvPicPr>
          <p:nvPr/>
        </p:nvPicPr>
        <p:blipFill>
          <a:blip r:embed="rId1"/>
          <a:stretch>
            <a:fillRect/>
          </a:stretch>
        </p:blipFill>
        <p:spPr>
          <a:xfrm>
            <a:off x="2377440" y="1371600"/>
            <a:ext cx="4389120" cy="2743200"/>
          </a:xfrm>
          <a:prstGeom prst="rect">
            <a:avLst/>
          </a:prstGeom>
        </p:spPr>
      </p:pic>
      <p:sp>
        <p:nvSpPr>
          <p:cNvPr id="5" name="Text 1"/>
          <p:cNvSpPr txBox="1"/>
          <p:nvPr/>
        </p:nvSpPr>
        <p:spPr>
          <a:xfrm>
            <a:off x="914400" y="4206240"/>
            <a:ext cx="7315200" cy="320040"/>
          </a:xfrm>
          <a:prstGeom prst="rect">
            <a:avLst/>
          </a:prstGeom>
          <a:noFill/>
          <a:ln/>
        </p:spPr>
        <p:txBody>
          <a:bodyPr wrap="square" lIns="0" tIns="0" rIns="0" bIns="0" rtlCol="0" anchor="ctr"/>
          <a:lstStyle/>
          <a:p>
            <a:pPr algn="ctr" indent="0" marL="0">
              <a:buNone/>
            </a:pPr>
            <a:r>
              <a:rPr lang="en-US" sz="1600" dirty="0">
                <a:solidFill>
                  <a:schemeClr val="tx2"/>
                </a:solidFill>
              </a:rPr>
              <a:t>Purple tags mark what the office can change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2 · OWN runs it</a:t>
            </a:r>
            <a:endParaRPr lang="en-US" sz="3200" dirty="0"/>
          </a:p>
        </p:txBody>
      </p:sp>
      <p:sp>
        <p:nvSpPr>
          <p:cNvPr id="4" name="Status: Working today"/>
          <p:cNvSpPr txBox="1"/>
          <p:nvPr/>
        </p:nvSpPr>
        <p:spPr>
          <a:xfrm>
            <a:off x="457200" y="1097280"/>
            <a:ext cx="23774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Working today</a:t>
            </a:r>
            <a:endParaRPr lang="en-US" sz="1600" dirty="0"/>
          </a:p>
        </p:txBody>
      </p:sp>
      <p:pic>
        <p:nvPicPr>
          <p:cNvPr id="5" name="The colour settings screen" descr="The colour settings screen">    </p:cNvPr>
          <p:cNvPicPr>
            <a:picLocks noChangeAspect="1"/>
          </p:cNvPicPr>
          <p:nvPr/>
        </p:nvPicPr>
        <p:blipFill>
          <a:blip r:embed="rId1"/>
          <a:stretch>
            <a:fillRect/>
          </a:stretch>
        </p:blipFill>
        <p:spPr>
          <a:xfrm>
            <a:off x="548640" y="1691640"/>
            <a:ext cx="3803904" cy="2377440"/>
          </a:xfrm>
          <a:prstGeom prst="rect">
            <a:avLst/>
          </a:prstGeom>
        </p:spPr>
      </p:pic>
      <p:pic>
        <p:nvPicPr>
          <p:cNvPr id="6" name="The photo library screen" descr="The photo library screen">    </p:cNvPr>
          <p:cNvPicPr>
            <a:picLocks noChangeAspect="1"/>
          </p:cNvPicPr>
          <p:nvPr/>
        </p:nvPicPr>
        <p:blipFill>
          <a:blip r:embed="rId2"/>
          <a:stretch>
            <a:fillRect/>
          </a:stretch>
        </p:blipFill>
        <p:spPr>
          <a:xfrm>
            <a:off x="4663440" y="1691640"/>
            <a:ext cx="3803904" cy="2377440"/>
          </a:xfrm>
          <a:prstGeom prst="rect">
            <a:avLst/>
          </a:prstGeom>
        </p:spPr>
      </p:pic>
      <p:sp>
        <p:nvSpPr>
          <p:cNvPr id="7" name="Text 2"/>
          <p:cNvSpPr txBox="1"/>
          <p:nvPr/>
        </p:nvSpPr>
        <p:spPr>
          <a:xfrm>
            <a:off x="548640" y="4160520"/>
            <a:ext cx="3803904" cy="320040"/>
          </a:xfrm>
          <a:prstGeom prst="rect">
            <a:avLst/>
          </a:prstGeom>
          <a:noFill/>
          <a:ln/>
        </p:spPr>
        <p:txBody>
          <a:bodyPr wrap="square" lIns="0" tIns="0" rIns="0" bIns="0" rtlCol="0" anchor="ctr"/>
          <a:lstStyle/>
          <a:p>
            <a:pPr algn="ctr" indent="0" marL="0">
              <a:buNone/>
            </a:pPr>
            <a:r>
              <a:rPr lang="en-US" sz="1600" dirty="0">
                <a:solidFill>
                  <a:schemeClr val="tx2"/>
                </a:solidFill>
              </a:rPr>
              <a:t>Change the colours</a:t>
            </a:r>
            <a:endParaRPr lang="en-US" sz="1600" dirty="0"/>
          </a:p>
        </p:txBody>
      </p:sp>
      <p:sp>
        <p:nvSpPr>
          <p:cNvPr id="8" name="Text 3"/>
          <p:cNvSpPr txBox="1"/>
          <p:nvPr/>
        </p:nvSpPr>
        <p:spPr>
          <a:xfrm>
            <a:off x="4663440" y="4160520"/>
            <a:ext cx="3803904" cy="320040"/>
          </a:xfrm>
          <a:prstGeom prst="rect">
            <a:avLst/>
          </a:prstGeom>
          <a:noFill/>
          <a:ln/>
        </p:spPr>
        <p:txBody>
          <a:bodyPr wrap="square" lIns="0" tIns="0" rIns="0" bIns="0" rtlCol="0" anchor="ctr"/>
          <a:lstStyle/>
          <a:p>
            <a:pPr algn="ctr" indent="0" marL="0">
              <a:buNone/>
            </a:pPr>
            <a:r>
              <a:rPr lang="en-US" sz="1600" dirty="0">
                <a:solidFill>
                  <a:schemeClr val="tx2"/>
                </a:solidFill>
              </a:rPr>
              <a:t>Keep a library of photos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2 · OWN runs it</a:t>
            </a:r>
            <a:endParaRPr lang="en-US" sz="3200" dirty="0"/>
          </a:p>
        </p:txBody>
      </p:sp>
      <p:sp>
        <p:nvSpPr>
          <p:cNvPr id="4" name="Status: Coming next"/>
          <p:cNvSpPr txBox="1"/>
          <p:nvPr/>
        </p:nvSpPr>
        <p:spPr>
          <a:xfrm>
            <a:off x="457200" y="1097280"/>
            <a:ext cx="23774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a:t>
            </a:r>
            <a:endParaRPr lang="en-US" sz="1600" dirty="0"/>
          </a:p>
        </p:txBody>
      </p:sp>
      <p:sp>
        <p:nvSpPr>
          <p:cNvPr id="5" name="Card: Add and remove pages"/>
          <p:cNvSpPr/>
          <p:nvPr/>
        </p:nvSpPr>
        <p:spPr>
          <a:xfrm>
            <a:off x="457200" y="1691640"/>
            <a:ext cx="2606040" cy="2651760"/>
          </a:xfrm>
          <a:prstGeom prst="roundRect">
            <a:avLst>
              <a:gd name="adj" fmla="val 4211"/>
            </a:avLst>
          </a:prstGeom>
          <a:solidFill>
            <a:schemeClr val="bg1"/>
          </a:solidFill>
          <a:ln w="25400">
            <a:solidFill>
              <a:schemeClr val="accent5"/>
            </a:solidFill>
            <a:prstDash val="solid"/>
          </a:ln>
        </p:spPr>
      </p:sp>
      <p:pic>
        <p:nvPicPr>
          <p:cNvPr id="6" name="Image 0" descr="Add and remove pages icon">    </p:cNvPr>
          <p:cNvPicPr>
            <a:picLocks noChangeAspect="1"/>
          </p:cNvPicPr>
          <p:nvPr/>
        </p:nvPicPr>
        <p:blipFill>
          <a:blip r:embed="rId1"/>
          <a:stretch>
            <a:fillRect/>
          </a:stretch>
        </p:blipFill>
        <p:spPr>
          <a:xfrm>
            <a:off x="1280160" y="1920240"/>
            <a:ext cx="960120" cy="960120"/>
          </a:xfrm>
          <a:prstGeom prst="rect">
            <a:avLst/>
          </a:prstGeom>
        </p:spPr>
      </p:pic>
      <p:sp>
        <p:nvSpPr>
          <p:cNvPr id="7" name="Text 3"/>
          <p:cNvSpPr txBox="1"/>
          <p:nvPr/>
        </p:nvSpPr>
        <p:spPr>
          <a:xfrm>
            <a:off x="594360" y="3017520"/>
            <a:ext cx="2331720" cy="1097280"/>
          </a:xfrm>
          <a:prstGeom prst="rect">
            <a:avLst/>
          </a:prstGeom>
          <a:noFill/>
          <a:ln/>
        </p:spPr>
        <p:txBody>
          <a:bodyPr wrap="square" lIns="0" tIns="0" rIns="0" bIns="0" rtlCol="0" anchor="t"/>
          <a:lstStyle/>
          <a:p>
            <a:pPr algn="ctr" indent="0" marL="0">
              <a:buNone/>
            </a:pPr>
            <a:r>
              <a:rPr lang="en-US" sz="2000" b="1" dirty="0">
                <a:solidFill>
                  <a:schemeClr val="tx1"/>
                </a:solidFill>
              </a:rPr>
              <a:t>Add and remove pages</a:t>
            </a:r>
            <a:endParaRPr lang="en-US" sz="2000" dirty="0"/>
          </a:p>
        </p:txBody>
      </p:sp>
      <p:sp>
        <p:nvSpPr>
          <p:cNvPr id="8" name="Card: Edit the board of directors list"/>
          <p:cNvSpPr/>
          <p:nvPr/>
        </p:nvSpPr>
        <p:spPr>
          <a:xfrm>
            <a:off x="3246120" y="1691640"/>
            <a:ext cx="2606040" cy="2651760"/>
          </a:xfrm>
          <a:prstGeom prst="roundRect">
            <a:avLst>
              <a:gd name="adj" fmla="val 4211"/>
            </a:avLst>
          </a:prstGeom>
          <a:solidFill>
            <a:schemeClr val="bg1"/>
          </a:solidFill>
          <a:ln w="25400">
            <a:solidFill>
              <a:schemeClr val="accent5"/>
            </a:solidFill>
            <a:prstDash val="solid"/>
          </a:ln>
        </p:spPr>
      </p:sp>
      <p:pic>
        <p:nvPicPr>
          <p:cNvPr id="9" name="Image 1" descr="Edit the board of directors list icon">    </p:cNvPr>
          <p:cNvPicPr>
            <a:picLocks noChangeAspect="1"/>
          </p:cNvPicPr>
          <p:nvPr/>
        </p:nvPicPr>
        <p:blipFill>
          <a:blip r:embed="rId2"/>
          <a:stretch>
            <a:fillRect/>
          </a:stretch>
        </p:blipFill>
        <p:spPr>
          <a:xfrm>
            <a:off x="4069080" y="1920240"/>
            <a:ext cx="960120" cy="960120"/>
          </a:xfrm>
          <a:prstGeom prst="rect">
            <a:avLst/>
          </a:prstGeom>
        </p:spPr>
      </p:pic>
      <p:sp>
        <p:nvSpPr>
          <p:cNvPr id="10" name="Text 5"/>
          <p:cNvSpPr txBox="1"/>
          <p:nvPr/>
        </p:nvSpPr>
        <p:spPr>
          <a:xfrm>
            <a:off x="3383280" y="3017520"/>
            <a:ext cx="2331720" cy="1097280"/>
          </a:xfrm>
          <a:prstGeom prst="rect">
            <a:avLst/>
          </a:prstGeom>
          <a:noFill/>
          <a:ln/>
        </p:spPr>
        <p:txBody>
          <a:bodyPr wrap="square" lIns="0" tIns="0" rIns="0" bIns="0" rtlCol="0" anchor="t"/>
          <a:lstStyle/>
          <a:p>
            <a:pPr algn="ctr" indent="0" marL="0">
              <a:buNone/>
            </a:pPr>
            <a:r>
              <a:rPr lang="en-US" sz="2000" b="1" dirty="0">
                <a:solidFill>
                  <a:schemeClr val="tx1"/>
                </a:solidFill>
              </a:rPr>
              <a:t>Edit the board of directors list</a:t>
            </a:r>
            <a:endParaRPr lang="en-US" sz="2000" dirty="0"/>
          </a:p>
        </p:txBody>
      </p:sp>
      <p:sp>
        <p:nvSpPr>
          <p:cNvPr id="11" name="Card: New directors after each election"/>
          <p:cNvSpPr/>
          <p:nvPr/>
        </p:nvSpPr>
        <p:spPr>
          <a:xfrm>
            <a:off x="6035040" y="1691640"/>
            <a:ext cx="2606040" cy="2651760"/>
          </a:xfrm>
          <a:prstGeom prst="roundRect">
            <a:avLst>
              <a:gd name="adj" fmla="val 4211"/>
            </a:avLst>
          </a:prstGeom>
          <a:solidFill>
            <a:schemeClr val="bg1"/>
          </a:solidFill>
          <a:ln w="25400">
            <a:solidFill>
              <a:schemeClr val="accent5"/>
            </a:solidFill>
            <a:prstDash val="solid"/>
          </a:ln>
        </p:spPr>
      </p:sp>
      <p:pic>
        <p:nvPicPr>
          <p:cNvPr id="12" name="Image 2" descr="New directors after each election icon">    </p:cNvPr>
          <p:cNvPicPr>
            <a:picLocks noChangeAspect="1"/>
          </p:cNvPicPr>
          <p:nvPr/>
        </p:nvPicPr>
        <p:blipFill>
          <a:blip r:embed="rId3"/>
          <a:stretch>
            <a:fillRect/>
          </a:stretch>
        </p:blipFill>
        <p:spPr>
          <a:xfrm>
            <a:off x="6858000" y="1920240"/>
            <a:ext cx="960120" cy="960120"/>
          </a:xfrm>
          <a:prstGeom prst="rect">
            <a:avLst/>
          </a:prstGeom>
        </p:spPr>
      </p:pic>
      <p:sp>
        <p:nvSpPr>
          <p:cNvPr id="13" name="Text 7"/>
          <p:cNvSpPr txBox="1"/>
          <p:nvPr/>
        </p:nvSpPr>
        <p:spPr>
          <a:xfrm>
            <a:off x="6172200" y="3017520"/>
            <a:ext cx="2331720" cy="1097280"/>
          </a:xfrm>
          <a:prstGeom prst="rect">
            <a:avLst/>
          </a:prstGeom>
          <a:noFill/>
          <a:ln/>
        </p:spPr>
        <p:txBody>
          <a:bodyPr wrap="square" lIns="0" tIns="0" rIns="0" bIns="0" rtlCol="0" anchor="t"/>
          <a:lstStyle/>
          <a:p>
            <a:pPr algn="ctr" indent="0" marL="0">
              <a:buNone/>
            </a:pPr>
            <a:r>
              <a:rPr lang="en-US" sz="2000" b="1" dirty="0">
                <a:solidFill>
                  <a:schemeClr val="tx1"/>
                </a:solidFill>
              </a:rPr>
              <a:t>New directors after each election</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3 · Notices nobody misses</a:t>
            </a:r>
            <a:endParaRPr lang="en-US" sz="3200" dirty="0"/>
          </a:p>
        </p:txBody>
      </p:sp>
      <p:sp>
        <p:nvSpPr>
          <p:cNvPr id="4" name="Status: Working today"/>
          <p:cNvSpPr txBox="1"/>
          <p:nvPr/>
        </p:nvSpPr>
        <p:spPr>
          <a:xfrm>
            <a:off x="457200" y="1097280"/>
            <a:ext cx="23774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Working today</a:t>
            </a:r>
            <a:endParaRPr lang="en-US" sz="1600" dirty="0"/>
          </a:p>
        </p:txBody>
      </p:sp>
      <p:pic>
        <p:nvPicPr>
          <p:cNvPr id="5" name="The office screen listing notices" descr="The office screen listing notices">    </p:cNvPr>
          <p:cNvPicPr>
            <a:picLocks noChangeAspect="1"/>
          </p:cNvPicPr>
          <p:nvPr/>
        </p:nvPicPr>
        <p:blipFill>
          <a:blip r:embed="rId1"/>
          <a:stretch>
            <a:fillRect/>
          </a:stretch>
        </p:blipFill>
        <p:spPr>
          <a:xfrm>
            <a:off x="1348740" y="1600200"/>
            <a:ext cx="4389120" cy="2743200"/>
          </a:xfrm>
          <a:prstGeom prst="rect">
            <a:avLst/>
          </a:prstGeom>
        </p:spPr>
      </p:pic>
      <p:sp>
        <p:nvSpPr>
          <p:cNvPr id="6" name="Text 2"/>
          <p:cNvSpPr txBox="1"/>
          <p:nvPr/>
        </p:nvSpPr>
        <p:spPr>
          <a:xfrm>
            <a:off x="1348740" y="4389120"/>
            <a:ext cx="4389120" cy="320040"/>
          </a:xfrm>
          <a:prstGeom prst="rect">
            <a:avLst/>
          </a:prstGeom>
          <a:noFill/>
          <a:ln/>
        </p:spPr>
        <p:txBody>
          <a:bodyPr wrap="square" lIns="0" tIns="0" rIns="0" bIns="0" rtlCol="0" anchor="ctr"/>
          <a:lstStyle/>
          <a:p>
            <a:pPr algn="ctr" indent="0" marL="0">
              <a:buNone/>
            </a:pPr>
            <a:r>
              <a:rPr lang="en-US" sz="1600" dirty="0">
                <a:solidFill>
                  <a:schemeClr val="tx2"/>
                </a:solidFill>
              </a:rPr>
              <a:t>The office writes it once</a:t>
            </a:r>
            <a:endParaRPr lang="en-US" sz="1600" dirty="0"/>
          </a:p>
        </p:txBody>
      </p:sp>
      <p:sp>
        <p:nvSpPr>
          <p:cNvPr id="7" name="Text 3"/>
          <p:cNvSpPr txBox="1"/>
          <p:nvPr/>
        </p:nvSpPr>
        <p:spPr>
          <a:xfrm>
            <a:off x="5920740" y="2651760"/>
            <a:ext cx="457200" cy="54864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pic>
        <p:nvPicPr>
          <p:cNvPr id="8" name="The members' notices page on a phone" descr="The members' notices page on a phone">    </p:cNvPr>
          <p:cNvPicPr>
            <a:picLocks noChangeAspect="1"/>
          </p:cNvPicPr>
          <p:nvPr/>
        </p:nvPicPr>
        <p:blipFill>
          <a:blip r:embed="rId2"/>
          <a:stretch>
            <a:fillRect/>
          </a:stretch>
        </p:blipFill>
        <p:spPr>
          <a:xfrm>
            <a:off x="6560820" y="1600200"/>
            <a:ext cx="1234440" cy="2743200"/>
          </a:xfrm>
          <a:prstGeom prst="rect">
            <a:avLst/>
          </a:prstGeom>
        </p:spPr>
      </p:pic>
      <p:sp>
        <p:nvSpPr>
          <p:cNvPr id="9" name="Text 4"/>
          <p:cNvSpPr txBox="1"/>
          <p:nvPr/>
        </p:nvSpPr>
        <p:spPr>
          <a:xfrm>
            <a:off x="610362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Members see it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4 · Easy repair requests</a:t>
            </a:r>
            <a:endParaRPr lang="en-US" sz="3200" dirty="0"/>
          </a:p>
        </p:txBody>
      </p:sp>
      <p:sp>
        <p:nvSpPr>
          <p:cNvPr id="4" name="Status: Working today"/>
          <p:cNvSpPr txBox="1"/>
          <p:nvPr/>
        </p:nvSpPr>
        <p:spPr>
          <a:xfrm>
            <a:off x="457200" y="1097280"/>
            <a:ext cx="23774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Working today</a:t>
            </a:r>
            <a:endParaRPr lang="en-US" sz="1600" dirty="0"/>
          </a:p>
        </p:txBody>
      </p:sp>
      <p:sp>
        <p:nvSpPr>
          <p:cNvPr id="5" name="Text 2"/>
          <p:cNvSpPr txBox="1"/>
          <p:nvPr/>
        </p:nvSpPr>
        <p:spPr>
          <a:xfrm>
            <a:off x="640080" y="1828800"/>
            <a:ext cx="640080" cy="640080"/>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Text 3"/>
          <p:cNvSpPr txBox="1"/>
          <p:nvPr/>
        </p:nvSpPr>
        <p:spPr>
          <a:xfrm>
            <a:off x="1508760" y="1828800"/>
            <a:ext cx="4206240" cy="640080"/>
          </a:xfrm>
          <a:prstGeom prst="rect">
            <a:avLst/>
          </a:prstGeom>
          <a:noFill/>
          <a:ln/>
        </p:spPr>
        <p:txBody>
          <a:bodyPr wrap="square" lIns="0" tIns="0" rIns="0" bIns="0" rtlCol="0" anchor="ctr"/>
          <a:lstStyle/>
          <a:p>
            <a:pPr indent="0" marL="0">
              <a:buNone/>
            </a:pPr>
            <a:r>
              <a:rPr lang="en-US" sz="2600" dirty="0">
                <a:solidFill>
                  <a:schemeClr val="tx1"/>
                </a:solidFill>
              </a:rPr>
              <a:t>Tap “New request”</a:t>
            </a:r>
            <a:endParaRPr lang="en-US" sz="2600" dirty="0"/>
          </a:p>
        </p:txBody>
      </p:sp>
      <p:sp>
        <p:nvSpPr>
          <p:cNvPr id="7" name="Text 4"/>
          <p:cNvSpPr txBox="1"/>
          <p:nvPr/>
        </p:nvSpPr>
        <p:spPr>
          <a:xfrm>
            <a:off x="640080" y="2697480"/>
            <a:ext cx="640080" cy="640080"/>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8" name="Text 5"/>
          <p:cNvSpPr txBox="1"/>
          <p:nvPr/>
        </p:nvSpPr>
        <p:spPr>
          <a:xfrm>
            <a:off x="1508760" y="2697480"/>
            <a:ext cx="4206240" cy="640080"/>
          </a:xfrm>
          <a:prstGeom prst="rect">
            <a:avLst/>
          </a:prstGeom>
          <a:noFill/>
          <a:ln/>
        </p:spPr>
        <p:txBody>
          <a:bodyPr wrap="square" lIns="0" tIns="0" rIns="0" bIns="0" rtlCol="0" anchor="ctr"/>
          <a:lstStyle/>
          <a:p>
            <a:pPr indent="0" marL="0">
              <a:buNone/>
            </a:pPr>
            <a:r>
              <a:rPr lang="en-US" sz="2600" dirty="0">
                <a:solidFill>
                  <a:schemeClr val="tx1"/>
                </a:solidFill>
              </a:rPr>
              <a:t>Type a few words</a:t>
            </a:r>
            <a:endParaRPr lang="en-US" sz="2600" dirty="0"/>
          </a:p>
        </p:txBody>
      </p:sp>
      <p:sp>
        <p:nvSpPr>
          <p:cNvPr id="9" name="Text 6"/>
          <p:cNvSpPr txBox="1"/>
          <p:nvPr/>
        </p:nvSpPr>
        <p:spPr>
          <a:xfrm>
            <a:off x="640080" y="3566160"/>
            <a:ext cx="640080" cy="640080"/>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0" name="Text 7"/>
          <p:cNvSpPr txBox="1"/>
          <p:nvPr/>
        </p:nvSpPr>
        <p:spPr>
          <a:xfrm>
            <a:off x="1508760" y="3566160"/>
            <a:ext cx="4206240" cy="640080"/>
          </a:xfrm>
          <a:prstGeom prst="rect">
            <a:avLst/>
          </a:prstGeom>
          <a:noFill/>
          <a:ln/>
        </p:spPr>
        <p:txBody>
          <a:bodyPr wrap="square" lIns="0" tIns="0" rIns="0" bIns="0" rtlCol="0" anchor="ctr"/>
          <a:lstStyle/>
          <a:p>
            <a:pPr indent="0" marL="0">
              <a:buNone/>
            </a:pPr>
            <a:r>
              <a:rPr lang="en-US" sz="2600" dirty="0">
                <a:solidFill>
                  <a:schemeClr val="tx1"/>
                </a:solidFill>
              </a:rPr>
              <a:t>Send</a:t>
            </a:r>
            <a:endParaRPr lang="en-US" sz="2600" dirty="0"/>
          </a:p>
        </p:txBody>
      </p:sp>
      <p:pic>
        <p:nvPicPr>
          <p:cNvPr id="11" name="The member's new request form on a phone" descr="The member's new request form on a phone">    </p:cNvPr>
          <p:cNvPicPr>
            <a:picLocks noChangeAspect="1"/>
          </p:cNvPicPr>
          <p:nvPr/>
        </p:nvPicPr>
        <p:blipFill>
          <a:blip r:embed="rId1"/>
          <a:stretch>
            <a:fillRect/>
          </a:stretch>
        </p:blipFill>
        <p:spPr>
          <a:xfrm>
            <a:off x="6400800" y="1600200"/>
            <a:ext cx="1234440" cy="2743200"/>
          </a:xfrm>
          <a:prstGeom prst="rect">
            <a:avLst/>
          </a:prstGeom>
        </p:spPr>
      </p:pic>
      <p:sp>
        <p:nvSpPr>
          <p:cNvPr id="12" name="Text 8"/>
          <p:cNvSpPr txBox="1"/>
          <p:nvPr/>
        </p:nvSpPr>
        <p:spPr>
          <a:xfrm>
            <a:off x="594360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The member's form</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4 · New to done</a:t>
            </a:r>
            <a:endParaRPr lang="en-US" sz="3200" dirty="0"/>
          </a:p>
        </p:txBody>
      </p:sp>
      <p:sp>
        <p:nvSpPr>
          <p:cNvPr id="4" name="Status: Receiving works today"/>
          <p:cNvSpPr txBox="1"/>
          <p:nvPr/>
        </p:nvSpPr>
        <p:spPr>
          <a:xfrm>
            <a:off x="457200" y="1097280"/>
            <a:ext cx="28346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Receiving works today</a:t>
            </a:r>
            <a:endParaRPr lang="en-US" sz="1600" dirty="0"/>
          </a:p>
        </p:txBody>
      </p:sp>
      <p:sp>
        <p:nvSpPr>
          <p:cNvPr id="5" name="Status: Started, finished, photos next"/>
          <p:cNvSpPr txBox="1"/>
          <p:nvPr/>
        </p:nvSpPr>
        <p:spPr>
          <a:xfrm>
            <a:off x="3474720" y="1097280"/>
            <a:ext cx="365760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Started, finished, photos next</a:t>
            </a:r>
            <a:endParaRPr lang="en-US" sz="1600" dirty="0"/>
          </a:p>
        </p:txBody>
      </p:sp>
      <p:pic>
        <p:nvPicPr>
          <p:cNvPr id="6" name="The office screen showing a received request" descr="The office screen showing a received request">    </p:cNvPr>
          <p:cNvPicPr>
            <a:picLocks noChangeAspect="1"/>
          </p:cNvPicPr>
          <p:nvPr/>
        </p:nvPicPr>
        <p:blipFill>
          <a:blip r:embed="rId1"/>
          <a:stretch>
            <a:fillRect/>
          </a:stretch>
        </p:blipFill>
        <p:spPr>
          <a:xfrm>
            <a:off x="1348740" y="1600200"/>
            <a:ext cx="4389120" cy="2743200"/>
          </a:xfrm>
          <a:prstGeom prst="rect">
            <a:avLst/>
          </a:prstGeom>
        </p:spPr>
      </p:pic>
      <p:sp>
        <p:nvSpPr>
          <p:cNvPr id="7" name="Text 3"/>
          <p:cNvSpPr txBox="1"/>
          <p:nvPr/>
        </p:nvSpPr>
        <p:spPr>
          <a:xfrm>
            <a:off x="1348740" y="4389120"/>
            <a:ext cx="4389120" cy="320040"/>
          </a:xfrm>
          <a:prstGeom prst="rect">
            <a:avLst/>
          </a:prstGeom>
          <a:noFill/>
          <a:ln/>
        </p:spPr>
        <p:txBody>
          <a:bodyPr wrap="square" lIns="0" tIns="0" rIns="0" bIns="0" rtlCol="0" anchor="ctr"/>
          <a:lstStyle/>
          <a:p>
            <a:pPr algn="ctr" indent="0" marL="0">
              <a:buNone/>
            </a:pPr>
            <a:r>
              <a:rPr lang="en-US" sz="1600" dirty="0">
                <a:solidFill>
                  <a:schemeClr val="tx2"/>
                </a:solidFill>
              </a:rPr>
              <a:t>The office taps “Receive”</a:t>
            </a:r>
            <a:endParaRPr lang="en-US" sz="1600" dirty="0"/>
          </a:p>
        </p:txBody>
      </p:sp>
      <p:sp>
        <p:nvSpPr>
          <p:cNvPr id="8" name="Text 4"/>
          <p:cNvSpPr txBox="1"/>
          <p:nvPr/>
        </p:nvSpPr>
        <p:spPr>
          <a:xfrm>
            <a:off x="5920740" y="2651760"/>
            <a:ext cx="457200" cy="54864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pic>
        <p:nvPicPr>
          <p:cNvPr id="9" name="The member's list of requests on a phone" descr="The member's list of requests on a phone">    </p:cNvPr>
          <p:cNvPicPr>
            <a:picLocks noChangeAspect="1"/>
          </p:cNvPicPr>
          <p:nvPr/>
        </p:nvPicPr>
        <p:blipFill>
          <a:blip r:embed="rId2"/>
          <a:stretch>
            <a:fillRect/>
          </a:stretch>
        </p:blipFill>
        <p:spPr>
          <a:xfrm>
            <a:off x="6560820" y="1600200"/>
            <a:ext cx="1234440" cy="2743200"/>
          </a:xfrm>
          <a:prstGeom prst="rect">
            <a:avLst/>
          </a:prstGeom>
        </p:spPr>
      </p:pic>
      <p:sp>
        <p:nvSpPr>
          <p:cNvPr id="10" name="Text 5"/>
          <p:cNvSpPr txBox="1"/>
          <p:nvPr/>
        </p:nvSpPr>
        <p:spPr>
          <a:xfrm>
            <a:off x="610362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The member follows along</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5 · Bigger words, up to 400%</a:t>
            </a:r>
            <a:endParaRPr lang="en-US" sz="3200" dirty="0"/>
          </a:p>
        </p:txBody>
      </p:sp>
      <p:sp>
        <p:nvSpPr>
          <p:cNvPr id="4" name="Status: Coming next"/>
          <p:cNvSpPr txBox="1"/>
          <p:nvPr/>
        </p:nvSpPr>
        <p:spPr>
          <a:xfrm>
            <a:off x="457200" y="1097280"/>
            <a:ext cx="23774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a:t>
            </a:r>
            <a:endParaRPr lang="en-US" sz="1600" dirty="0"/>
          </a:p>
        </p:txBody>
      </p:sp>
      <p:pic>
        <p:nvPicPr>
          <p:cNvPr id="5" name="The home page at normal size" descr="The home page at normal size">    </p:cNvPr>
          <p:cNvPicPr>
            <a:picLocks noChangeAspect="1"/>
          </p:cNvPicPr>
          <p:nvPr/>
        </p:nvPicPr>
        <p:blipFill>
          <a:blip r:embed="rId1"/>
          <a:stretch>
            <a:fillRect/>
          </a:stretch>
        </p:blipFill>
        <p:spPr>
          <a:xfrm>
            <a:off x="1348740" y="1600200"/>
            <a:ext cx="4389120" cy="2743200"/>
          </a:xfrm>
          <a:prstGeom prst="rect">
            <a:avLst/>
          </a:prstGeom>
        </p:spPr>
      </p:pic>
      <p:sp>
        <p:nvSpPr>
          <p:cNvPr id="6" name="Text 2"/>
          <p:cNvSpPr txBox="1"/>
          <p:nvPr/>
        </p:nvSpPr>
        <p:spPr>
          <a:xfrm>
            <a:off x="1348740" y="4389120"/>
            <a:ext cx="4389120" cy="320040"/>
          </a:xfrm>
          <a:prstGeom prst="rect">
            <a:avLst/>
          </a:prstGeom>
          <a:noFill/>
          <a:ln/>
        </p:spPr>
        <p:txBody>
          <a:bodyPr wrap="square" lIns="0" tIns="0" rIns="0" bIns="0" rtlCol="0" anchor="ctr"/>
          <a:lstStyle/>
          <a:p>
            <a:pPr algn="ctr" indent="0" marL="0">
              <a:buNone/>
            </a:pPr>
            <a:r>
              <a:rPr lang="en-US" sz="1600" dirty="0">
                <a:solidFill>
                  <a:schemeClr val="tx2"/>
                </a:solidFill>
              </a:rPr>
              <a:t>Normal size</a:t>
            </a:r>
            <a:endParaRPr lang="en-US" sz="1600" dirty="0"/>
          </a:p>
        </p:txBody>
      </p:sp>
      <p:sp>
        <p:nvSpPr>
          <p:cNvPr id="7" name="Text 3"/>
          <p:cNvSpPr txBox="1"/>
          <p:nvPr/>
        </p:nvSpPr>
        <p:spPr>
          <a:xfrm>
            <a:off x="5920740" y="2651760"/>
            <a:ext cx="457200" cy="54864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pic>
        <p:nvPicPr>
          <p:cNvPr id="8" name="The home page in one column, as it looks at 400%" descr="The home page in one column, as it looks at 400%">    </p:cNvPr>
          <p:cNvPicPr>
            <a:picLocks noChangeAspect="1"/>
          </p:cNvPicPr>
          <p:nvPr/>
        </p:nvPicPr>
        <p:blipFill>
          <a:blip r:embed="rId2"/>
          <a:stretch>
            <a:fillRect/>
          </a:stretch>
        </p:blipFill>
        <p:spPr>
          <a:xfrm>
            <a:off x="6560820" y="1600200"/>
            <a:ext cx="1234440" cy="2743200"/>
          </a:xfrm>
          <a:prstGeom prst="rect">
            <a:avLst/>
          </a:prstGeom>
        </p:spPr>
      </p:pic>
      <p:sp>
        <p:nvSpPr>
          <p:cNvPr id="9" name="Text 4"/>
          <p:cNvSpPr txBox="1"/>
          <p:nvPr/>
        </p:nvSpPr>
        <p:spPr>
          <a:xfrm>
            <a:off x="610362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400%: one easy column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6 · Your own photo</a:t>
            </a:r>
            <a:endParaRPr lang="en-US" sz="3200" dirty="0"/>
          </a:p>
        </p:txBody>
      </p:sp>
      <p:sp>
        <p:nvSpPr>
          <p:cNvPr id="4" name="Status: Coming next"/>
          <p:cNvSpPr txBox="1"/>
          <p:nvPr/>
        </p:nvSpPr>
        <p:spPr>
          <a:xfrm>
            <a:off x="457200" y="1097280"/>
            <a:ext cx="23774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a:t>
            </a:r>
            <a:endParaRPr lang="en-US" sz="1600" dirty="0"/>
          </a:p>
        </p:txBody>
      </p:sp>
      <p:pic>
        <p:nvPicPr>
          <p:cNvPr id="5" name="The profile screen with a photo circle and camera button" descr="The profile screen with a photo circle and camera button">    </p:cNvPr>
          <p:cNvPicPr>
            <a:picLocks noChangeAspect="1"/>
          </p:cNvPicPr>
          <p:nvPr/>
        </p:nvPicPr>
        <p:blipFill>
          <a:blip r:embed="rId1"/>
          <a:stretch>
            <a:fillRect/>
          </a:stretch>
        </p:blipFill>
        <p:spPr>
          <a:xfrm>
            <a:off x="1485900" y="1600200"/>
            <a:ext cx="4389120" cy="2743200"/>
          </a:xfrm>
          <a:prstGeom prst="rect">
            <a:avLst/>
          </a:prstGeom>
        </p:spPr>
      </p:pic>
      <p:sp>
        <p:nvSpPr>
          <p:cNvPr id="6" name="Text 2"/>
          <p:cNvSpPr txBox="1"/>
          <p:nvPr/>
        </p:nvSpPr>
        <p:spPr>
          <a:xfrm>
            <a:off x="1485900" y="4389120"/>
            <a:ext cx="4389120" cy="320040"/>
          </a:xfrm>
          <a:prstGeom prst="rect">
            <a:avLst/>
          </a:prstGeom>
          <a:noFill/>
          <a:ln/>
        </p:spPr>
        <p:txBody>
          <a:bodyPr wrap="square" lIns="0" tIns="0" rIns="0" bIns="0" rtlCol="0" anchor="ctr"/>
          <a:lstStyle/>
          <a:p>
            <a:pPr algn="ctr" indent="0" marL="0">
              <a:buNone/>
            </a:pPr>
            <a:r>
              <a:rPr lang="en-US" sz="1600" dirty="0">
                <a:solidFill>
                  <a:schemeClr val="tx2"/>
                </a:solidFill>
              </a:rPr>
              <a:t>The screen is drawn</a:t>
            </a:r>
            <a:endParaRPr lang="en-US" sz="1600" dirty="0"/>
          </a:p>
        </p:txBody>
      </p:sp>
      <p:pic>
        <p:nvPicPr>
          <p:cNvPr id="7" name="The profile screen on a phone" descr="The profile screen on a phone">    </p:cNvPr>
          <p:cNvPicPr>
            <a:picLocks noChangeAspect="1"/>
          </p:cNvPicPr>
          <p:nvPr/>
        </p:nvPicPr>
        <p:blipFill>
          <a:blip r:embed="rId2"/>
          <a:stretch>
            <a:fillRect/>
          </a:stretch>
        </p:blipFill>
        <p:spPr>
          <a:xfrm>
            <a:off x="6423660" y="1600200"/>
            <a:ext cx="1234440" cy="2743200"/>
          </a:xfrm>
          <a:prstGeom prst="rect">
            <a:avLst/>
          </a:prstGeom>
        </p:spPr>
      </p:pic>
      <p:sp>
        <p:nvSpPr>
          <p:cNvPr id="8" name="Text 3"/>
          <p:cNvSpPr txBox="1"/>
          <p:nvPr/>
        </p:nvSpPr>
        <p:spPr>
          <a:xfrm>
            <a:off x="5966460" y="4389120"/>
            <a:ext cx="2148840" cy="320040"/>
          </a:xfrm>
          <a:prstGeom prst="rect">
            <a:avLst/>
          </a:prstGeom>
          <a:noFill/>
          <a:ln/>
        </p:spPr>
        <p:txBody>
          <a:bodyPr wrap="square" lIns="0" tIns="0" rIns="0" bIns="0" rtlCol="0" anchor="ctr"/>
          <a:lstStyle/>
          <a:p>
            <a:pPr algn="ctr" indent="0" marL="0">
              <a:buNone/>
            </a:pPr>
            <a:r>
              <a:rPr lang="en-US" sz="1600" dirty="0">
                <a:solidFill>
                  <a:schemeClr val="tx2"/>
                </a:solidFill>
              </a:rPr>
              <a:t>On a phone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In short</a:t>
            </a:r>
            <a:endParaRPr lang="en-US" sz="3200" dirty="0"/>
          </a:p>
        </p:txBody>
      </p:sp>
      <p:sp>
        <p:nvSpPr>
          <p:cNvPr id="4" name="Card: Working today"/>
          <p:cNvSpPr/>
          <p:nvPr/>
        </p:nvSpPr>
        <p:spPr>
          <a:xfrm>
            <a:off x="457200" y="1234440"/>
            <a:ext cx="4023360" cy="3291840"/>
          </a:xfrm>
          <a:prstGeom prst="roundRect">
            <a:avLst>
              <a:gd name="adj" fmla="val 3333"/>
            </a:avLst>
          </a:prstGeom>
          <a:solidFill>
            <a:schemeClr val="bg1"/>
          </a:solidFill>
          <a:ln w="25400">
            <a:solidFill>
              <a:schemeClr val="accent5"/>
            </a:solidFill>
            <a:prstDash val="solid"/>
          </a:ln>
        </p:spPr>
      </p:sp>
      <p:sp>
        <p:nvSpPr>
          <p:cNvPr id="5" name="Status: Working today"/>
          <p:cNvSpPr txBox="1"/>
          <p:nvPr/>
        </p:nvSpPr>
        <p:spPr>
          <a:xfrm>
            <a:off x="685800" y="1417320"/>
            <a:ext cx="2377440" cy="365760"/>
          </a:xfrm>
          <a:prstGeom prst="roundRect">
            <a:avLst>
              <a:gd name="adj" fmla="val 50000"/>
            </a:avLst>
          </a:prstGeom>
          <a:solidFill>
            <a:schemeClr val="accent6"/>
          </a:solidFill>
          <a:ln w="25400">
            <a:solidFill>
              <a:schemeClr val="accent2"/>
            </a:solidFill>
          </a:ln>
        </p:spPr>
        <p:txBody>
          <a:bodyPr wrap="square" lIns="0" tIns="0" rIns="0" bIns="0" rtlCol="0" anchor="ctr"/>
          <a:lstStyle/>
          <a:p>
            <a:pPr algn="ctr" indent="0" marL="0">
              <a:buNone/>
            </a:pPr>
            <a:r>
              <a:rPr lang="en-US" sz="1600" b="1" dirty="0">
                <a:solidFill>
                  <a:schemeClr val="accent2"/>
                </a:solidFill>
              </a:rPr>
              <a:t>●  Working today</a:t>
            </a:r>
            <a:endParaRPr lang="en-US" sz="1600" dirty="0"/>
          </a:p>
        </p:txBody>
      </p:sp>
      <p:sp>
        <p:nvSpPr>
          <p:cNvPr id="6" name="Text 3"/>
          <p:cNvSpPr txBox="1"/>
          <p:nvPr/>
        </p:nvSpPr>
        <p:spPr>
          <a:xfrm>
            <a:off x="731520" y="201168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chemeClr val="tx1"/>
                </a:solidFill>
              </a:rPr>
              <a:t>Notices</a:t>
            </a:r>
            <a:endParaRPr lang="en-US" sz="2200" dirty="0"/>
          </a:p>
          <a:p>
            <a:pPr marL="342900" indent="-342900">
              <a:spcAft>
                <a:spcPts val="800"/>
              </a:spcAft>
              <a:buSzPct val="100000"/>
              <a:buChar char="•"/>
            </a:pPr>
            <a:r>
              <a:rPr lang="en-US" sz="2200" dirty="0">
                <a:solidFill>
                  <a:schemeClr val="tx1"/>
                </a:solidFill>
              </a:rPr>
              <a:t>Repair requests</a:t>
            </a:r>
            <a:endParaRPr lang="en-US" sz="2200" dirty="0"/>
          </a:p>
          <a:p>
            <a:pPr marL="342900" indent="-342900">
              <a:spcAft>
                <a:spcPts val="800"/>
              </a:spcAft>
              <a:buSzPct val="100000"/>
              <a:buChar char="•"/>
            </a:pPr>
            <a:r>
              <a:rPr lang="en-US" sz="2200" dirty="0">
                <a:solidFill>
                  <a:schemeClr val="tx1"/>
                </a:solidFill>
              </a:rPr>
              <a:t>Your colours</a:t>
            </a:r>
            <a:endParaRPr lang="en-US" sz="2200" dirty="0"/>
          </a:p>
          <a:p>
            <a:pPr marL="342900" indent="-342900">
              <a:spcAft>
                <a:spcPts val="800"/>
              </a:spcAft>
              <a:buSzPct val="100000"/>
              <a:buChar char="•"/>
            </a:pPr>
            <a:r>
              <a:rPr lang="en-US" sz="2200" dirty="0">
                <a:solidFill>
                  <a:schemeClr val="tx1"/>
                </a:solidFill>
              </a:rPr>
              <a:t>A photo library</a:t>
            </a:r>
            <a:endParaRPr lang="en-US" sz="2200" dirty="0"/>
          </a:p>
        </p:txBody>
      </p:sp>
      <p:sp>
        <p:nvSpPr>
          <p:cNvPr id="7" name="Card: Coming next"/>
          <p:cNvSpPr/>
          <p:nvPr/>
        </p:nvSpPr>
        <p:spPr>
          <a:xfrm>
            <a:off x="4663440" y="1234440"/>
            <a:ext cx="4023360" cy="3291840"/>
          </a:xfrm>
          <a:prstGeom prst="roundRect">
            <a:avLst>
              <a:gd name="adj" fmla="val 3333"/>
            </a:avLst>
          </a:prstGeom>
          <a:solidFill>
            <a:schemeClr val="bg1"/>
          </a:solidFill>
          <a:ln w="25400">
            <a:solidFill>
              <a:schemeClr val="accent5"/>
            </a:solidFill>
            <a:prstDash val="solid"/>
          </a:ln>
        </p:spPr>
      </p:sp>
      <p:sp>
        <p:nvSpPr>
          <p:cNvPr id="8" name="Status: Coming next"/>
          <p:cNvSpPr txBox="1"/>
          <p:nvPr/>
        </p:nvSpPr>
        <p:spPr>
          <a:xfrm>
            <a:off x="4892040" y="1417320"/>
            <a:ext cx="2377440" cy="365760"/>
          </a:xfrm>
          <a:prstGeom prst="roundRect">
            <a:avLst>
              <a:gd name="adj" fmla="val 50000"/>
            </a:avLst>
          </a:prstGeom>
          <a:solidFill>
            <a:schemeClr val="accent5"/>
          </a:solidFill>
          <a:ln w="25400">
            <a:solidFill>
              <a:schemeClr val="accent3"/>
            </a:solidFill>
          </a:ln>
        </p:spPr>
        <p:txBody>
          <a:bodyPr wrap="square" lIns="0" tIns="0" rIns="0" bIns="0" rtlCol="0" anchor="ctr"/>
          <a:lstStyle/>
          <a:p>
            <a:pPr algn="ctr" indent="0" marL="0">
              <a:buNone/>
            </a:pPr>
            <a:r>
              <a:rPr lang="en-US" sz="1600" b="1" dirty="0">
                <a:solidFill>
                  <a:schemeClr val="tx1"/>
                </a:solidFill>
              </a:rPr>
              <a:t>○  Coming next</a:t>
            </a:r>
            <a:endParaRPr lang="en-US" sz="1600" dirty="0"/>
          </a:p>
        </p:txBody>
      </p:sp>
      <p:sp>
        <p:nvSpPr>
          <p:cNvPr id="9" name="Text 6"/>
          <p:cNvSpPr txBox="1"/>
          <p:nvPr/>
        </p:nvSpPr>
        <p:spPr>
          <a:xfrm>
            <a:off x="4937760" y="201168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chemeClr val="tx1"/>
                </a:solidFill>
              </a:rPr>
              <a:t>The new website design</a:t>
            </a:r>
            <a:endParaRPr lang="en-US" sz="2200" dirty="0"/>
          </a:p>
          <a:p>
            <a:pPr marL="342900" indent="-342900">
              <a:spcAft>
                <a:spcPts val="800"/>
              </a:spcAft>
              <a:buSzPct val="100000"/>
              <a:buChar char="•"/>
            </a:pPr>
            <a:r>
              <a:rPr lang="en-US" sz="2200" dirty="0">
                <a:solidFill>
                  <a:schemeClr val="tx1"/>
                </a:solidFill>
              </a:rPr>
              <a:t>Pages and lists you edit</a:t>
            </a:r>
            <a:endParaRPr lang="en-US" sz="2200" dirty="0"/>
          </a:p>
          <a:p>
            <a:pPr marL="342900" indent="-342900">
              <a:spcAft>
                <a:spcPts val="800"/>
              </a:spcAft>
              <a:buSzPct val="100000"/>
              <a:buChar char="•"/>
            </a:pPr>
            <a:r>
              <a:rPr lang="en-US" sz="2200" dirty="0">
                <a:solidFill>
                  <a:schemeClr val="tx1"/>
                </a:solidFill>
              </a:rPr>
              <a:t>Bigger text</a:t>
            </a:r>
            <a:endParaRPr lang="en-US" sz="2200" dirty="0"/>
          </a:p>
          <a:p>
            <a:pPr marL="342900" indent="-342900">
              <a:spcAft>
                <a:spcPts val="800"/>
              </a:spcAft>
              <a:buSzPct val="100000"/>
              <a:buChar char="•"/>
            </a:pPr>
            <a:r>
              <a:rPr lang="en-US" sz="2200" dirty="0">
                <a:solidFill>
                  <a:schemeClr val="tx1"/>
                </a:solidFill>
              </a:rPr>
              <a:t>Profile pictures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Three small things</a:t>
            </a:r>
            <a:endParaRPr lang="en-US" sz="3200" dirty="0"/>
          </a:p>
        </p:txBody>
      </p:sp>
      <p:sp>
        <p:nvSpPr>
          <p:cNvPr id="4" name="Text 1"/>
          <p:cNvSpPr txBox="1"/>
          <p:nvPr/>
        </p:nvSpPr>
        <p:spPr>
          <a:xfrm>
            <a:off x="731520" y="1463040"/>
            <a:ext cx="731520" cy="73152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5" name="Text 2"/>
          <p:cNvSpPr txBox="1"/>
          <p:nvPr/>
        </p:nvSpPr>
        <p:spPr>
          <a:xfrm>
            <a:off x="1737360" y="1463040"/>
            <a:ext cx="6949440" cy="731520"/>
          </a:xfrm>
          <a:prstGeom prst="rect">
            <a:avLst/>
          </a:prstGeom>
          <a:noFill/>
          <a:ln/>
        </p:spPr>
        <p:txBody>
          <a:bodyPr wrap="square" lIns="0" tIns="0" rIns="0" bIns="0" rtlCol="0" anchor="ctr"/>
          <a:lstStyle/>
          <a:p>
            <a:pPr indent="0" marL="0">
              <a:buNone/>
            </a:pPr>
            <a:r>
              <a:rPr lang="en-US" sz="2600" dirty="0">
                <a:solidFill>
                  <a:schemeClr val="tx1"/>
                </a:solidFill>
              </a:rPr>
              <a:t>Two members try notices and repair requests</a:t>
            </a:r>
            <a:endParaRPr lang="en-US" sz="2600" dirty="0"/>
          </a:p>
        </p:txBody>
      </p:sp>
      <p:sp>
        <p:nvSpPr>
          <p:cNvPr id="6" name="Text 3"/>
          <p:cNvSpPr txBox="1"/>
          <p:nvPr/>
        </p:nvSpPr>
        <p:spPr>
          <a:xfrm>
            <a:off x="731520" y="2468880"/>
            <a:ext cx="731520" cy="73152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7" name="Text 4"/>
          <p:cNvSpPr txBox="1"/>
          <p:nvPr/>
        </p:nvSpPr>
        <p:spPr>
          <a:xfrm>
            <a:off x="1737360" y="2468880"/>
            <a:ext cx="6949440" cy="731520"/>
          </a:xfrm>
          <a:prstGeom prst="rect">
            <a:avLst/>
          </a:prstGeom>
          <a:noFill/>
          <a:ln/>
        </p:spPr>
        <p:txBody>
          <a:bodyPr wrap="square" lIns="0" tIns="0" rIns="0" bIns="0" rtlCol="0" anchor="ctr"/>
          <a:lstStyle/>
          <a:p>
            <a:pPr indent="0" marL="0">
              <a:buNone/>
            </a:pPr>
            <a:r>
              <a:rPr lang="en-US" sz="2600" dirty="0">
                <a:solidFill>
                  <a:schemeClr val="tx1"/>
                </a:solidFill>
              </a:rPr>
              <a:t>Tell us the first three pages you want</a:t>
            </a:r>
            <a:endParaRPr lang="en-US" sz="2600" dirty="0"/>
          </a:p>
        </p:txBody>
      </p:sp>
      <p:sp>
        <p:nvSpPr>
          <p:cNvPr id="8" name="Text 5"/>
          <p:cNvSpPr txBox="1"/>
          <p:nvPr/>
        </p:nvSpPr>
        <p:spPr>
          <a:xfrm>
            <a:off x="731520" y="3474720"/>
            <a:ext cx="731520" cy="73152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9" name="Text 6"/>
          <p:cNvSpPr txBox="1"/>
          <p:nvPr/>
        </p:nvSpPr>
        <p:spPr>
          <a:xfrm>
            <a:off x="1737360" y="3474720"/>
            <a:ext cx="6949440" cy="731520"/>
          </a:xfrm>
          <a:prstGeom prst="rect">
            <a:avLst/>
          </a:prstGeom>
          <a:noFill/>
          <a:ln/>
        </p:spPr>
        <p:txBody>
          <a:bodyPr wrap="square" lIns="0" tIns="0" rIns="0" bIns="0" rtlCol="0" anchor="ctr"/>
          <a:lstStyle/>
          <a:p>
            <a:pPr indent="0" marL="0">
              <a:buNone/>
            </a:pPr>
            <a:r>
              <a:rPr lang="en-US" sz="2600" dirty="0">
                <a:solidFill>
                  <a:schemeClr val="tx1"/>
                </a:solidFill>
              </a:rPr>
              <a:t>Choose who in the office will be your admin</a:t>
            </a: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Thank you</a:t>
            </a:r>
            <a:endParaRPr lang="en-US" sz="3200" dirty="0"/>
          </a:p>
        </p:txBody>
      </p:sp>
      <p:sp>
        <p:nvSpPr>
          <p:cNvPr id="4" name="Text 1"/>
          <p:cNvSpPr txBox="1"/>
          <p:nvPr/>
        </p:nvSpPr>
        <p:spPr>
          <a:xfrm>
            <a:off x="457200" y="1828800"/>
            <a:ext cx="4023360" cy="1371600"/>
          </a:xfrm>
          <a:prstGeom prst="rect">
            <a:avLst/>
          </a:prstGeom>
          <a:noFill/>
          <a:ln/>
        </p:spPr>
        <p:txBody>
          <a:bodyPr wrap="square" lIns="0" tIns="0" rIns="0" bIns="0" rtlCol="0" anchor="t"/>
          <a:lstStyle/>
          <a:p>
            <a:pPr indent="0" marL="0">
              <a:buNone/>
            </a:pPr>
            <a:r>
              <a:rPr lang="en-US" sz="2800" dirty="0">
                <a:solidFill>
                  <a:schemeClr val="tx2"/>
                </a:solidFill>
              </a:rPr>
              <a:t>Questions, however small, are welcome.</a:t>
            </a:r>
            <a:endParaRPr lang="en-US" sz="2800" dirty="0"/>
          </a:p>
        </p:txBody>
      </p:sp>
      <p:pic>
        <p:nvPicPr>
          <p:cNvPr id="5" name="Image 0" descr="A rooftop garden">    </p:cNvPr>
          <p:cNvPicPr>
            <a:picLocks noChangeAspect="1"/>
          </p:cNvPicPr>
          <p:nvPr/>
        </p:nvPicPr>
        <p:blipFill>
          <a:blip r:embed="rId1"/>
          <a:stretch>
            <a:fillRect/>
          </a:stretch>
        </p:blipFill>
        <p:spPr>
          <a:xfrm>
            <a:off x="4846320" y="1280160"/>
            <a:ext cx="3840480" cy="288036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WN Co-op">
  <a:themeElements>
    <a:clrScheme name="OWN Co-op">
      <a:dk1>
        <a:srgbClr val="26211D"/>
      </a:dk1>
      <a:lt1>
        <a:srgbClr val="FFFFFF"/>
      </a:lt1>
      <a:dk2>
        <a:srgbClr val="5E554D"/>
      </a:dk2>
      <a:lt2>
        <a:srgbClr val="FBF7F0"/>
      </a:lt2>
      <a:accent1>
        <a:srgbClr val="9E4322"/>
      </a:accent1>
      <a:accent2>
        <a:srgbClr val="3F6B4F"/>
      </a:accent2>
      <a:accent3>
        <a:srgbClr val="B27A00"/>
      </a:accent3>
      <a:accent4>
        <a:srgbClr val="6B3F60"/>
      </a:accent4>
      <a:accent5>
        <a:srgbClr val="F3E7D3"/>
      </a:accent5>
      <a:accent6>
        <a:srgbClr val="E3EBE0"/>
      </a:accent6>
      <a:hlink>
        <a:srgbClr val="9E4322"/>
      </a:hlink>
      <a:folHlink>
        <a:srgbClr val="6B3F60"/>
      </a:folHlink>
    </a:clrScheme>
    <a:fontScheme name="OWN Co-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website and a helping hand for OWN</dc:title>
  <dc:subject>PptxGenJS Presentation</dc:subject>
  <dc:creator>Coop project</dc:creator>
  <cp:lastModifiedBy>Coop project</cp:lastModifiedBy>
  <cp:revision>1</cp:revision>
  <dcterms:created xsi:type="dcterms:W3CDTF">2026-10-13T08:45:39Z</dcterms:created>
  <dcterms:modified xsi:type="dcterms:W3CDTF">2026-10-13T08:45:39Z</dcterms:modified>
</cp:coreProperties>
</file>